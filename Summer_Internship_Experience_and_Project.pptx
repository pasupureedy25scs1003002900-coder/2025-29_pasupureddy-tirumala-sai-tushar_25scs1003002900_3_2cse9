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14300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2563EB"/>
                </a:solidFill>
              </a:defRPr>
            </a:pPr>
            <a:r>
              <a:t>SUMMER INTERNSHIP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33172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900" b="1">
                <a:solidFill>
                  <a:srgbClr val="1F2937"/>
                </a:solidFill>
              </a:defRPr>
            </a:pPr>
            <a:r>
              <a:t>Sales Data Analysis and Business Insights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703320"/>
            <a:ext cx="996696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4B5563"/>
                </a:solidFill>
              </a:defRPr>
            </a:pPr>
            <a:r>
              <a:t>Nanoglint Technologies</a:t>
            </a:r>
            <a:br/>
            <a:r>
              <a:t>18 June 2026 – 18 August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2937"/>
                </a:solidFill>
              </a:defRPr>
            </a:pPr>
            <a:r>
              <a:t>About the Internship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2412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4B5563"/>
                </a:solidFill>
              </a:defRPr>
            </a:pPr>
            <a:r>
              <a:t>A practical learning experience in data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55448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900">
                <a:solidFill>
                  <a:srgbClr val="1F2937"/>
                </a:solidFill>
              </a:defRPr>
            </a:pPr>
            <a:r>
              <a:t>Organization: Nanoglint Technologies</a:t>
            </a:r>
          </a:p>
          <a:p>
            <a:pPr>
              <a:spcAft>
                <a:spcPts val="1400"/>
              </a:spcAft>
              <a:defRPr sz="1900">
                <a:solidFill>
                  <a:srgbClr val="1F2937"/>
                </a:solidFill>
              </a:defRPr>
            </a:pPr>
            <a:r>
              <a:t>Duration: 18 June 2026 – 18 August 2026</a:t>
            </a:r>
          </a:p>
          <a:p>
            <a:pPr>
              <a:spcAft>
                <a:spcPts val="1400"/>
              </a:spcAft>
              <a:defRPr sz="1900">
                <a:solidFill>
                  <a:srgbClr val="1F2937"/>
                </a:solidFill>
              </a:defRPr>
            </a:pPr>
            <a:r>
              <a:t>Project: Sales Data Analysis and Business Insights</a:t>
            </a:r>
          </a:p>
          <a:p>
            <a:pPr>
              <a:spcAft>
                <a:spcPts val="1400"/>
              </a:spcAft>
              <a:defRPr sz="1900">
                <a:solidFill>
                  <a:srgbClr val="1F2937"/>
                </a:solidFill>
              </a:defRPr>
            </a:pPr>
            <a:r>
              <a:t>The internship focused on applying data-analysis concepts to a realistic sales dataset.</a:t>
            </a:r>
          </a:p>
          <a:p>
            <a:pPr>
              <a:spcAft>
                <a:spcPts val="1400"/>
              </a:spcAft>
              <a:defRPr sz="1900">
                <a:solidFill>
                  <a:srgbClr val="1F2937"/>
                </a:solidFill>
              </a:defRPr>
            </a:pPr>
            <a:r>
              <a:t>I gained practical exposure to Python-based analysis and data visualization.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2937"/>
                </a:solidFill>
              </a:defRPr>
            </a:pPr>
            <a:r>
              <a:t>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2412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4B5563"/>
                </a:solidFill>
              </a:defRPr>
            </a:pPr>
            <a:r>
              <a:t>Turning raw sales records into meaningful business insights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55448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1F2937"/>
                </a:solidFill>
              </a:defRPr>
            </a:pPr>
            <a:r>
              <a:t>Analyzed sales, profit, quantity, products, categories, regions, and dates.</a:t>
            </a:r>
          </a:p>
          <a:p>
            <a:pPr>
              <a:spcAft>
                <a:spcPts val="1400"/>
              </a:spcAft>
              <a:defRPr sz="1800">
                <a:solidFill>
                  <a:srgbClr val="1F2937"/>
                </a:solidFill>
              </a:defRPr>
            </a:pPr>
            <a:r>
              <a:t>Performed data cleaning and quality checks.</a:t>
            </a:r>
          </a:p>
          <a:p>
            <a:pPr>
              <a:spcAft>
                <a:spcPts val="1400"/>
              </a:spcAft>
              <a:defRPr sz="1800">
                <a:solidFill>
                  <a:srgbClr val="1F2937"/>
                </a:solidFill>
              </a:defRPr>
            </a:pPr>
            <a:r>
              <a:t>Calculated key performance indicators such as total sales, total profit, units sold, and profit margin.</a:t>
            </a:r>
          </a:p>
          <a:p>
            <a:pPr>
              <a:spcAft>
                <a:spcPts val="1400"/>
              </a:spcAft>
              <a:defRPr sz="1800">
                <a:solidFill>
                  <a:srgbClr val="1F2937"/>
                </a:solidFill>
              </a:defRPr>
            </a:pPr>
            <a:r>
              <a:t>Created visualizations to understand trends and compare performance.</a:t>
            </a:r>
          </a:p>
          <a:p>
            <a:pPr>
              <a:spcAft>
                <a:spcPts val="1400"/>
              </a:spcAft>
              <a:defRPr sz="1800">
                <a:solidFill>
                  <a:srgbClr val="1F2937"/>
                </a:solidFill>
              </a:defRPr>
            </a:pPr>
            <a:r>
              <a:t>Documented the complete analysis in a Jupyter Notebook.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2937"/>
                </a:solidFill>
              </a:defRPr>
            </a:pPr>
            <a:r>
              <a:t>Tools &amp; Technologies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554480"/>
            <a:ext cx="342900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E1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4B5563"/>
                </a:solidFill>
              </a:defRPr>
            </a:pPr>
            <a:r>
              <a:t>Python</a:t>
            </a:r>
          </a:p>
          <a:p>
            <a:pPr>
              <a:defRPr sz="2000" b="1">
                <a:solidFill>
                  <a:srgbClr val="1F2937"/>
                </a:solidFill>
              </a:defRPr>
            </a:pPr>
            <a:r>
              <a:t>Core programming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434840" y="1554480"/>
            <a:ext cx="342900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E1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4B5563"/>
                </a:solidFill>
              </a:defRPr>
            </a:pPr>
            <a:r>
              <a:t>Pandas</a:t>
            </a:r>
          </a:p>
          <a:p>
            <a:pPr>
              <a:defRPr sz="2000" b="1">
                <a:solidFill>
                  <a:srgbClr val="1F2937"/>
                </a:solidFill>
              </a:defRPr>
            </a:pPr>
            <a:r>
              <a:t>Data cleaning &amp; analysis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0" y="1554480"/>
            <a:ext cx="342900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E1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4B5563"/>
                </a:solidFill>
              </a:defRPr>
            </a:pPr>
            <a:r>
              <a:t>NumPy</a:t>
            </a:r>
          </a:p>
          <a:p>
            <a:pPr>
              <a:defRPr sz="2000" b="1">
                <a:solidFill>
                  <a:srgbClr val="1F2937"/>
                </a:solidFill>
              </a:defRPr>
            </a:pPr>
            <a:r>
              <a:t>Numerical calculations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611880"/>
            <a:ext cx="342900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E1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4B5563"/>
                </a:solidFill>
              </a:defRPr>
            </a:pPr>
            <a:r>
              <a:t>Matplotlib</a:t>
            </a:r>
          </a:p>
          <a:p>
            <a:pPr>
              <a:defRPr sz="2000" b="1">
                <a:solidFill>
                  <a:srgbClr val="1F2937"/>
                </a:solidFill>
              </a:defRPr>
            </a:pPr>
            <a:r>
              <a:t>Data visualization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3611880"/>
            <a:ext cx="342900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E1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4B5563"/>
                </a:solidFill>
              </a:defRPr>
            </a:pPr>
            <a:r>
              <a:t>Seaborn</a:t>
            </a:r>
          </a:p>
          <a:p>
            <a:pPr>
              <a:defRPr sz="2000" b="1">
                <a:solidFill>
                  <a:srgbClr val="1F2937"/>
                </a:solidFill>
              </a:defRPr>
            </a:pPr>
            <a:r>
              <a:t>Statistical visualization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0" y="3611880"/>
            <a:ext cx="342900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E1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4B5563"/>
                </a:solidFill>
              </a:defRPr>
            </a:pPr>
            <a:r>
              <a:t>Jupyter</a:t>
            </a:r>
          </a:p>
          <a:p>
            <a:pPr>
              <a:defRPr sz="2000" b="1">
                <a:solidFill>
                  <a:srgbClr val="1F2937"/>
                </a:solidFill>
              </a:defRPr>
            </a:pPr>
            <a:r>
              <a:t>Interactive notebook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2937"/>
                </a:solidFill>
              </a:defRPr>
            </a:pPr>
            <a:r>
              <a:t>Key Analysis Areas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55448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900">
                <a:solidFill>
                  <a:srgbClr val="1F2937"/>
                </a:solidFill>
              </a:defRPr>
            </a:pPr>
            <a:r>
              <a:t>Product Performance — identified products contributing the most sales.</a:t>
            </a:r>
          </a:p>
          <a:p>
            <a:pPr>
              <a:spcAft>
                <a:spcPts val="1400"/>
              </a:spcAft>
              <a:defRPr sz="1900">
                <a:solidFill>
                  <a:srgbClr val="1F2937"/>
                </a:solidFill>
              </a:defRPr>
            </a:pPr>
            <a:r>
              <a:t>Regional Performance — compared sales across North, South, East, and West.</a:t>
            </a:r>
          </a:p>
          <a:p>
            <a:pPr>
              <a:spcAft>
                <a:spcPts val="1400"/>
              </a:spcAft>
              <a:defRPr sz="1900">
                <a:solidFill>
                  <a:srgbClr val="1F2937"/>
                </a:solidFill>
              </a:defRPr>
            </a:pPr>
            <a:r>
              <a:t>Monthly Trends — examined how sales changed over time.</a:t>
            </a:r>
          </a:p>
          <a:p>
            <a:pPr>
              <a:spcAft>
                <a:spcPts val="1400"/>
              </a:spcAft>
              <a:defRPr sz="1900">
                <a:solidFill>
                  <a:srgbClr val="1F2937"/>
                </a:solidFill>
              </a:defRPr>
            </a:pPr>
            <a:r>
              <a:t>Category Profitability — compared profit generated by product categories.</a:t>
            </a:r>
          </a:p>
          <a:p>
            <a:pPr>
              <a:spcAft>
                <a:spcPts val="1400"/>
              </a:spcAft>
              <a:defRPr sz="1900">
                <a:solidFill>
                  <a:srgbClr val="1F2937"/>
                </a:solidFill>
              </a:defRPr>
            </a:pPr>
            <a:r>
              <a:t>Data Quality — checked for missing values and duplicate records.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2937"/>
                </a:solidFill>
              </a:defRPr>
            </a:pPr>
            <a:r>
              <a:t>Project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2412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4B5563"/>
                </a:solidFill>
              </a:defRPr>
            </a:pPr>
            <a:r>
              <a:t>Summary of the analyzed dataset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33832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1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4B5563"/>
                </a:solidFill>
              </a:defRPr>
            </a:pPr>
            <a:r>
              <a:t>TOTAL SALES</a:t>
            </a:r>
          </a:p>
          <a:p>
            <a:pPr>
              <a:defRPr sz="2000" b="1">
                <a:solidFill>
                  <a:srgbClr val="1F2937"/>
                </a:solidFill>
              </a:defRPr>
            </a:pPr>
            <a:r>
              <a:t>₹18,996,013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554480"/>
            <a:ext cx="33832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1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4B5563"/>
                </a:solidFill>
              </a:defRPr>
            </a:pPr>
            <a:r>
              <a:t>TOTAL PROFIT</a:t>
            </a:r>
          </a:p>
          <a:p>
            <a:pPr>
              <a:defRPr sz="2000" b="1">
                <a:solidFill>
                  <a:srgbClr val="1F2937"/>
                </a:solidFill>
              </a:defRPr>
            </a:pPr>
            <a:r>
              <a:t>₹3,289,000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554480"/>
            <a:ext cx="33832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1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4B5563"/>
                </a:solidFill>
              </a:defRPr>
            </a:pPr>
            <a:r>
              <a:t>UNITS SOLD</a:t>
            </a:r>
          </a:p>
          <a:p>
            <a:pPr>
              <a:defRPr sz="2000" b="1">
                <a:solidFill>
                  <a:srgbClr val="1F2937"/>
                </a:solidFill>
              </a:defRPr>
            </a:pPr>
            <a:r>
              <a:t>975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60320" y="3840480"/>
            <a:ext cx="33832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1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4B5563"/>
                </a:solidFill>
              </a:defRPr>
            </a:pPr>
            <a:r>
              <a:t>PROFIT MARGIN</a:t>
            </a:r>
          </a:p>
          <a:p>
            <a:pPr>
              <a:defRPr sz="2000" b="1">
                <a:solidFill>
                  <a:srgbClr val="1F2937"/>
                </a:solidFill>
              </a:defRPr>
            </a:pPr>
            <a:r>
              <a:t>17.31%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840480"/>
            <a:ext cx="33832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1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4B5563"/>
                </a:solidFill>
              </a:defRPr>
            </a:pPr>
            <a:r>
              <a:t>RECORDS ANALYZED</a:t>
            </a:r>
          </a:p>
          <a:p>
            <a:pPr>
              <a:defRPr sz="2000" b="1">
                <a:solidFill>
                  <a:srgbClr val="1F2937"/>
                </a:solidFill>
              </a:defRPr>
            </a:pPr>
            <a:r>
              <a:t>240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2937"/>
                </a:solidFill>
              </a:defRPr>
            </a:pPr>
            <a:r>
              <a:t>My Internship Experience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2412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4B5563"/>
                </a:solidFill>
              </a:defRPr>
            </a:pPr>
            <a:r>
              <a:t>What I learned during the internship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55448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1F2937"/>
                </a:solidFill>
              </a:defRPr>
            </a:pPr>
            <a:r>
              <a:t>My internship experience at Nanoglint Technologies was great and very valuable.</a:t>
            </a:r>
          </a:p>
          <a:p>
            <a:pPr>
              <a:spcAft>
                <a:spcPts val="1400"/>
              </a:spcAft>
              <a:defRPr sz="1800">
                <a:solidFill>
                  <a:srgbClr val="1F2937"/>
                </a:solidFill>
              </a:defRPr>
            </a:pPr>
            <a:r>
              <a:t>I learned a lot about data analysis and gained practical experience with Python and data-analysis libraries.</a:t>
            </a:r>
          </a:p>
          <a:p>
            <a:pPr>
              <a:spcAft>
                <a:spcPts val="1400"/>
              </a:spcAft>
              <a:defRPr sz="1800">
                <a:solidFill>
                  <a:srgbClr val="1F2937"/>
                </a:solidFill>
              </a:defRPr>
            </a:pPr>
            <a:r>
              <a:t>Working on the project helped me understand how raw data is cleaned, analyzed, visualized, and interpreted.</a:t>
            </a:r>
          </a:p>
          <a:p>
            <a:pPr>
              <a:spcAft>
                <a:spcPts val="1400"/>
              </a:spcAft>
              <a:defRPr sz="1800">
                <a:solidFill>
                  <a:srgbClr val="1F2937"/>
                </a:solidFill>
              </a:defRPr>
            </a:pPr>
            <a:r>
              <a:t>I improved my technical skills and developed a better understanding of real-world data analysis.</a:t>
            </a:r>
          </a:p>
          <a:p>
            <a:pPr>
              <a:spcAft>
                <a:spcPts val="1400"/>
              </a:spcAft>
              <a:defRPr sz="1800">
                <a:solidFill>
                  <a:srgbClr val="1F2937"/>
                </a:solidFill>
              </a:defRPr>
            </a:pPr>
            <a:r>
              <a:t>The experience gave me an opportunity to apply what I learned in a practical project.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2937"/>
                </a:solidFill>
              </a:defRPr>
            </a:pPr>
            <a:r>
              <a:t>Experience with the 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2412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4B5563"/>
                </a:solidFill>
              </a:defRPr>
            </a:pPr>
            <a:r>
              <a:t>A positive and supportive learning environment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55448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900">
                <a:solidFill>
                  <a:srgbClr val="1F2937"/>
                </a:solidFill>
              </a:defRPr>
            </a:pPr>
            <a:r>
              <a:t>I had a great experience working with the team at Nanoglint Technologies.</a:t>
            </a:r>
          </a:p>
          <a:p>
            <a:pPr>
              <a:spcAft>
                <a:spcPts val="1400"/>
              </a:spcAft>
              <a:defRPr sz="1900">
                <a:solidFill>
                  <a:srgbClr val="1F2937"/>
                </a:solidFill>
              </a:defRPr>
            </a:pPr>
            <a:r>
              <a:t>The internship provided a valuable opportunity to learn and gain practical knowledge.</a:t>
            </a:r>
          </a:p>
          <a:p>
            <a:pPr>
              <a:spcAft>
                <a:spcPts val="1400"/>
              </a:spcAft>
              <a:defRPr sz="1900">
                <a:solidFill>
                  <a:srgbClr val="1F2937"/>
                </a:solidFill>
              </a:defRPr>
            </a:pPr>
            <a:r>
              <a:t>I appreciated the exposure to real-world work and the chance to improve my analytical skills.</a:t>
            </a:r>
          </a:p>
          <a:p>
            <a:pPr>
              <a:spcAft>
                <a:spcPts val="1400"/>
              </a:spcAft>
              <a:defRPr sz="1900">
                <a:solidFill>
                  <a:srgbClr val="1F2937"/>
                </a:solidFill>
              </a:defRPr>
            </a:pPr>
            <a:r>
              <a:t>The overall experience was informative, engaging, and rewarding.</a:t>
            </a:r>
          </a:p>
          <a:p>
            <a:pPr>
              <a:spcAft>
                <a:spcPts val="1400"/>
              </a:spcAft>
              <a:defRPr sz="1900">
                <a:solidFill>
                  <a:srgbClr val="1F2937"/>
                </a:solidFill>
              </a:defRPr>
            </a:pPr>
            <a:r>
              <a:t>I am grateful for the opportunity and everything I learned during the internship.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2937"/>
                </a:solidFill>
              </a:defRPr>
            </a:pPr>
            <a:r>
              <a:t>Skills Developed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554480"/>
            <a:ext cx="342900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E1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4B5563"/>
                </a:solidFill>
              </a:defRPr>
            </a:pPr>
            <a:r>
              <a:t>Data Cleaning</a:t>
            </a:r>
          </a:p>
          <a:p>
            <a:pPr>
              <a:defRPr sz="2000" b="1">
                <a:solidFill>
                  <a:srgbClr val="1F2937"/>
                </a:solidFill>
              </a:defRPr>
            </a:pPr>
            <a:r>
              <a:t>Preparing reliable datasets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434840" y="1554480"/>
            <a:ext cx="342900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E1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4B5563"/>
                </a:solidFill>
              </a:defRPr>
            </a:pPr>
            <a:r>
              <a:t>Data Analysis</a:t>
            </a:r>
          </a:p>
          <a:p>
            <a:pPr>
              <a:defRPr sz="2000" b="1">
                <a:solidFill>
                  <a:srgbClr val="1F2937"/>
                </a:solidFill>
              </a:defRPr>
            </a:pPr>
            <a:r>
              <a:t>Finding patterns and insights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0" y="1554480"/>
            <a:ext cx="342900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E1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4B5563"/>
                </a:solidFill>
              </a:defRPr>
            </a:pPr>
            <a:r>
              <a:t>Visualization</a:t>
            </a:r>
          </a:p>
          <a:p>
            <a:pPr>
              <a:defRPr sz="2000" b="1">
                <a:solidFill>
                  <a:srgbClr val="1F2937"/>
                </a:solidFill>
              </a:defRPr>
            </a:pPr>
            <a:r>
              <a:t>Communicating results with charts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611880"/>
            <a:ext cx="342900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E1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4B5563"/>
                </a:solidFill>
              </a:defRPr>
            </a:pPr>
            <a:r>
              <a:t>Python</a:t>
            </a:r>
          </a:p>
          <a:p>
            <a:pPr>
              <a:defRPr sz="2000" b="1">
                <a:solidFill>
                  <a:srgbClr val="1F2937"/>
                </a:solidFill>
              </a:defRPr>
            </a:pPr>
            <a:r>
              <a:t>Writing practical analysis code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3611880"/>
            <a:ext cx="342900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E1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4B5563"/>
                </a:solidFill>
              </a:defRPr>
            </a:pPr>
            <a:r>
              <a:t>Problem Solving</a:t>
            </a:r>
          </a:p>
          <a:p>
            <a:pPr>
              <a:defRPr sz="2000" b="1">
                <a:solidFill>
                  <a:srgbClr val="1F2937"/>
                </a:solidFill>
              </a:defRPr>
            </a:pPr>
            <a:r>
              <a:t>Interpreting business questions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0" y="3611880"/>
            <a:ext cx="342900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E1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4B5563"/>
                </a:solidFill>
              </a:defRPr>
            </a:pPr>
            <a:r>
              <a:t>Presentation</a:t>
            </a:r>
          </a:p>
          <a:p>
            <a:pPr>
              <a:defRPr sz="2000" b="1">
                <a:solidFill>
                  <a:srgbClr val="1F2937"/>
                </a:solidFill>
              </a:defRPr>
            </a:pPr>
            <a:r>
              <a:t>Communicating findings clearly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2937"/>
                </a:solidFill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55448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900">
                <a:solidFill>
                  <a:srgbClr val="1F2937"/>
                </a:solidFill>
              </a:defRPr>
            </a:pPr>
            <a:r>
              <a:t>The internship was a great learning experience that strengthened my practical data-analysis skills.</a:t>
            </a:r>
          </a:p>
          <a:p>
            <a:pPr>
              <a:spcAft>
                <a:spcPts val="1400"/>
              </a:spcAft>
              <a:defRPr sz="1900">
                <a:solidFill>
                  <a:srgbClr val="1F2937"/>
                </a:solidFill>
              </a:defRPr>
            </a:pPr>
            <a:r>
              <a:t>The sales analysis project helped me understand the complete workflow from data preparation to business insights.</a:t>
            </a:r>
          </a:p>
          <a:p>
            <a:pPr>
              <a:spcAft>
                <a:spcPts val="1400"/>
              </a:spcAft>
              <a:defRPr sz="1900">
                <a:solidFill>
                  <a:srgbClr val="1F2937"/>
                </a:solidFill>
              </a:defRPr>
            </a:pPr>
            <a:r>
              <a:t>I gained experience with Python, Pandas, NumPy, Matplotlib, Seaborn, and Jupyter Notebook.</a:t>
            </a:r>
          </a:p>
          <a:p>
            <a:pPr>
              <a:spcAft>
                <a:spcPts val="1400"/>
              </a:spcAft>
              <a:defRPr sz="1900">
                <a:solidFill>
                  <a:srgbClr val="1F2937"/>
                </a:solidFill>
              </a:defRPr>
            </a:pPr>
            <a:r>
              <a:t>I also had a great experience with the team and learned a lot from the internship.</a:t>
            </a:r>
          </a:p>
          <a:p>
            <a:pPr>
              <a:spcAft>
                <a:spcPts val="1400"/>
              </a:spcAft>
              <a:defRPr sz="1900">
                <a:solidFill>
                  <a:srgbClr val="1F2937"/>
                </a:solidFill>
              </a:defRPr>
            </a:pPr>
            <a:r>
              <a:t>Overall, the internship was valuable, informative, and rewarding.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19456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2563EB"/>
                </a:solidFill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46120"/>
            <a:ext cx="10332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4B5563"/>
                </a:solidFill>
              </a:defRPr>
            </a:pPr>
            <a:r>
              <a:t>Summer Internship • Sales Data Analysis • Nanoglint Technologies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